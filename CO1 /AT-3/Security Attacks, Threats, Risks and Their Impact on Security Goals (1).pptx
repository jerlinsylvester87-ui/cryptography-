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how attacks, threats and risks relate, and how each one damages the three core security goals: confidentiality, integrity and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CIA triad is the yardstick for every attack we discuss. Add authenticity, accountability and non-repudiation as extended goals. Every attack ultimately targets at least one corner of this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threat only becomes an attack when someone acts. An attack only succeeds if a vulnerability exists. Risk is the business view: how probable and how costly. Controls reduce vulnerability or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STRIDE is Microsoft's threat-modeling mnemonic. Walk each component of a system diagram and ask which of the six applies. It maps cleanly onto the security goals on the previous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attacks are hard to detect, so we prevent them with encryption. Active attacks are hard to prevent completely, so we detect and recover using signatures, MACs, sequence numbers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Malware attacks the machine; social engineering attacks the human. Most breaches start with phishing, which then delivers malware. Awareness training and email filtering are the main defenses.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attacks exploit protocol trust; application attacks exploit unvalidated input. Mitigations: rate limiting and CDNs, TLS, parameterized queries, output encoding and a web application firewall.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risk is how likely something bad is, times how bad it would be. Red cells first. Café phone example, then the four treatments. Optional numbers: 2 attacks a year at 5 lakh each is 10 lakh expected loss; a 2 lakh firewall that cuts attacks to 0.5 a year is worth buying. Qualitative matrices rank risks; quantitative methods use annualized loss expectancy: single loss times yearly rate. Prioritize the red cells first. Residual risk remains after controls and must be accepted by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reason about attacks: ask which corner of the triad is hit. Ransomware hits all three: data is read and exfiltrated, altered by encryption, and made unavailable.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threats and vulnerabilities create risk; attacks damage C, I or A; layered controls prevent, detect and respond.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5240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Times New Roman" pitchFamily="34" charset="0"/>
                <a:ea typeface="Times New Roman" pitchFamily="34" charset="-122"/>
                <a:cs typeface="Times New Roma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31720"/>
            <a:ext cx="10566400" cy="371348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Times New Roman" pitchFamily="34" charset="0"/>
                <a:ea typeface="Times New Roman" pitchFamily="34" charset="-122"/>
                <a:cs typeface="Times New Roman"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5240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F1B2D"/>
                </a:solidFill>
                <a:latin typeface="Times New Roman" pitchFamily="34" charset="0"/>
                <a:ea typeface="Times New Roman" pitchFamily="34" charset="-122"/>
                <a:cs typeface="Times New Roma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331720"/>
            <a:ext cx="10566400" cy="3713480"/>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Times New Roman" pitchFamily="34" charset="0"/>
                <a:ea typeface="Times New Roman" pitchFamily="34" charset="-122"/>
                <a:cs typeface="Times New Roman"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920240"/>
            <a:ext cx="7639304" cy="17018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0F1B2D"/>
                </a:solidFill>
                <a:latin typeface="Times New Roman" pitchFamily="18" charset="0"/>
                <a:ea typeface="Times New Roman" pitchFamily="18" charset="-122"/>
                <a:cs typeface="Times New Roman" pitchFamily="18" charset="-120"/>
              </a:rPr>
              <a:t>Security Attacks, Threats, Risks and Their Impact on Security Goals</a:t>
            </a:r>
            <a:endParaRPr lang="en-US" sz="4000" dirty="0"/>
          </a:p>
        </p:txBody>
      </p:sp>
      <p:sp>
        <p:nvSpPr>
          <p:cNvPr id="4" name="Shape 1"/>
          <p:cNvSpPr/>
          <p:nvPr/>
        </p:nvSpPr>
        <p:spPr>
          <a:xfrm>
            <a:off x="819150" y="3958590"/>
            <a:ext cx="5194300" cy="1480820"/>
          </a:xfrm>
          <a:prstGeom prst="rect">
            <a:avLst/>
          </a:prstGeom>
          <a:noFill/>
          <a:ln w="12700">
            <a:solidFill>
              <a:srgbClr val="8A94A3"/>
            </a:solidFill>
            <a:prstDash val="solid"/>
          </a:ln>
        </p:spPr>
      </p:sp>
      <p:sp>
        <p:nvSpPr>
          <p:cNvPr id="5" name="Text 2"/>
          <p:cNvSpPr/>
          <p:nvPr/>
        </p:nvSpPr>
        <p:spPr>
          <a:xfrm>
            <a:off x="924560" y="4038600"/>
            <a:ext cx="5132984"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B2D"/>
                </a:solidFill>
                <a:latin typeface="Times New Roman" pitchFamily="18" charset="0"/>
                <a:ea typeface="Times New Roman" pitchFamily="18" charset="-122"/>
                <a:cs typeface="Times New Roman" pitchFamily="18" charset="-120"/>
              </a:rPr>
              <a:t>Name : Amalraj P</a:t>
            </a:r>
            <a:endParaRPr lang="en-US" sz="1600" dirty="0"/>
          </a:p>
        </p:txBody>
      </p:sp>
      <p:sp>
        <p:nvSpPr>
          <p:cNvPr id="6" name="Text 3"/>
          <p:cNvSpPr/>
          <p:nvPr/>
        </p:nvSpPr>
        <p:spPr>
          <a:xfrm>
            <a:off x="924560" y="4302760"/>
            <a:ext cx="5132984"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B2D"/>
                </a:solidFill>
                <a:latin typeface="Times New Roman" pitchFamily="18" charset="0"/>
                <a:ea typeface="Times New Roman" pitchFamily="18" charset="-122"/>
                <a:cs typeface="Times New Roman" pitchFamily="18" charset="-120"/>
              </a:rPr>
              <a:t>Reg : 192524089</a:t>
            </a:r>
            <a:endParaRPr lang="en-US" sz="1600" dirty="0"/>
          </a:p>
        </p:txBody>
      </p:sp>
      <p:sp>
        <p:nvSpPr>
          <p:cNvPr id="7" name="Text 4"/>
          <p:cNvSpPr/>
          <p:nvPr/>
        </p:nvSpPr>
        <p:spPr>
          <a:xfrm>
            <a:off x="924560" y="4566920"/>
            <a:ext cx="5132984"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B2D"/>
                </a:solidFill>
                <a:latin typeface="Times New Roman" pitchFamily="18" charset="0"/>
                <a:ea typeface="Times New Roman" pitchFamily="18" charset="-122"/>
                <a:cs typeface="Times New Roman" pitchFamily="18" charset="-120"/>
              </a:rPr>
              <a:t>Course : Cryptography and Network Security</a:t>
            </a:r>
            <a:endParaRPr lang="en-US" sz="1600" dirty="0"/>
          </a:p>
        </p:txBody>
      </p:sp>
      <p:sp>
        <p:nvSpPr>
          <p:cNvPr id="8" name="Text 5"/>
          <p:cNvSpPr/>
          <p:nvPr/>
        </p:nvSpPr>
        <p:spPr>
          <a:xfrm>
            <a:off x="924560" y="4831080"/>
            <a:ext cx="5132984"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B2D"/>
                </a:solidFill>
                <a:latin typeface="Times New Roman" pitchFamily="18" charset="0"/>
                <a:ea typeface="Times New Roman" pitchFamily="18" charset="-122"/>
                <a:cs typeface="Times New Roman" pitchFamily="18" charset="-120"/>
              </a:rPr>
              <a:t>Course code : CSA5116</a:t>
            </a:r>
            <a:endParaRPr lang="en-US" sz="1600" dirty="0"/>
          </a:p>
        </p:txBody>
      </p:sp>
      <p:sp>
        <p:nvSpPr>
          <p:cNvPr id="9" name="Text 6"/>
          <p:cNvSpPr/>
          <p:nvPr/>
        </p:nvSpPr>
        <p:spPr>
          <a:xfrm>
            <a:off x="924560" y="5095240"/>
            <a:ext cx="5132984"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0F1B2D"/>
                </a:solidFill>
                <a:latin typeface="Times New Roman" pitchFamily="18" charset="0"/>
                <a:ea typeface="Times New Roman" pitchFamily="18" charset="-122"/>
                <a:cs typeface="Times New Roman" pitchFamily="18" charset="-120"/>
              </a:rPr>
              <a:t>Faculty : Sudhagar D</a:t>
            </a:r>
            <a:endParaRPr lang="en-US" sz="1600" dirty="0"/>
          </a:p>
        </p:txBody>
      </p:sp>
      <p:pic>
        <p:nvPicPr>
          <p:cNvPr id="10" name="Image 1" descr="Shield with lock">    </p:cNvPr>
          <p:cNvPicPr>
            <a:picLocks noChangeAspect="1"/>
          </p:cNvPicPr>
          <p:nvPr/>
        </p:nvPicPr>
        <p:blipFill>
          <a:blip r:embed="rId2"/>
          <a:srcRect l="0" r="0" t="0" b="0"/>
          <a:stretch/>
        </p:blipFill>
        <p:spPr>
          <a:xfrm>
            <a:off x="8839200" y="2190750"/>
            <a:ext cx="2540000" cy="2984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Security goals: the CIA triad</a:t>
            </a:r>
            <a:endParaRPr lang="en-US" sz="3600" dirty="0"/>
          </a:p>
        </p:txBody>
      </p:sp>
      <p:pic>
        <p:nvPicPr>
          <p:cNvPr id="4" name="Image 1" descr="CIA triad triangle">    </p:cNvPr>
          <p:cNvPicPr>
            <a:picLocks noChangeAspect="1"/>
          </p:cNvPicPr>
          <p:nvPr/>
        </p:nvPicPr>
        <p:blipFill>
          <a:blip r:embed="rId2"/>
          <a:srcRect l="0" r="0" t="0" b="0"/>
          <a:stretch/>
        </p:blipFill>
        <p:spPr>
          <a:xfrm>
            <a:off x="812800" y="2280920"/>
            <a:ext cx="3556000" cy="3175000"/>
          </a:xfrm>
          <a:prstGeom prst="rect">
            <a:avLst/>
          </a:prstGeom>
        </p:spPr>
      </p:pic>
      <p:sp>
        <p:nvSpPr>
          <p:cNvPr id="5" name="Shape 1"/>
          <p:cNvSpPr/>
          <p:nvPr/>
        </p:nvSpPr>
        <p:spPr>
          <a:xfrm>
            <a:off x="4775200" y="2397760"/>
            <a:ext cx="6604000" cy="878840"/>
          </a:xfrm>
          <a:prstGeom prst="roundRect">
            <a:avLst>
              <a:gd name="adj" fmla="val 11561"/>
            </a:avLst>
          </a:prstGeom>
          <a:solidFill>
            <a:srgbClr val="F4F1EA"/>
          </a:solidFill>
          <a:ln/>
        </p:spPr>
      </p:sp>
      <p:sp>
        <p:nvSpPr>
          <p:cNvPr id="6" name="Text 2"/>
          <p:cNvSpPr/>
          <p:nvPr/>
        </p:nvSpPr>
        <p:spPr>
          <a:xfrm>
            <a:off x="5003800" y="2575560"/>
            <a:ext cx="63312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Times New Roman" pitchFamily="18" charset="0"/>
                <a:ea typeface="Times New Roman" pitchFamily="18" charset="-122"/>
                <a:cs typeface="Times New Roman" pitchFamily="18" charset="-120"/>
              </a:rPr>
              <a:t>Confidentiality</a:t>
            </a:r>
            <a:endParaRPr lang="en-US" sz="1800" dirty="0"/>
          </a:p>
        </p:txBody>
      </p:sp>
      <p:sp>
        <p:nvSpPr>
          <p:cNvPr id="7" name="Text 3"/>
          <p:cNvSpPr/>
          <p:nvPr/>
        </p:nvSpPr>
        <p:spPr>
          <a:xfrm>
            <a:off x="5003800" y="2849880"/>
            <a:ext cx="63312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Only authorized parties can read data. Tools: encryption, access control.</a:t>
            </a:r>
            <a:endParaRPr lang="en-US" sz="1400" dirty="0"/>
          </a:p>
        </p:txBody>
      </p:sp>
      <p:sp>
        <p:nvSpPr>
          <p:cNvPr id="8" name="Shape 4"/>
          <p:cNvSpPr/>
          <p:nvPr/>
        </p:nvSpPr>
        <p:spPr>
          <a:xfrm>
            <a:off x="4775200" y="3429000"/>
            <a:ext cx="6604000" cy="878840"/>
          </a:xfrm>
          <a:prstGeom prst="roundRect">
            <a:avLst>
              <a:gd name="adj" fmla="val 11561"/>
            </a:avLst>
          </a:prstGeom>
          <a:solidFill>
            <a:srgbClr val="F4F1EA"/>
          </a:solidFill>
          <a:ln/>
        </p:spPr>
      </p:sp>
      <p:sp>
        <p:nvSpPr>
          <p:cNvPr id="9" name="Text 5"/>
          <p:cNvSpPr/>
          <p:nvPr/>
        </p:nvSpPr>
        <p:spPr>
          <a:xfrm>
            <a:off x="5003800" y="3606800"/>
            <a:ext cx="63312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Times New Roman" pitchFamily="18" charset="0"/>
                <a:ea typeface="Times New Roman" pitchFamily="18" charset="-122"/>
                <a:cs typeface="Times New Roman" pitchFamily="18" charset="-120"/>
              </a:rPr>
              <a:t>Integrity</a:t>
            </a:r>
            <a:endParaRPr lang="en-US" sz="1800" dirty="0"/>
          </a:p>
        </p:txBody>
      </p:sp>
      <p:sp>
        <p:nvSpPr>
          <p:cNvPr id="10" name="Text 6"/>
          <p:cNvSpPr/>
          <p:nvPr/>
        </p:nvSpPr>
        <p:spPr>
          <a:xfrm>
            <a:off x="5003800" y="3881120"/>
            <a:ext cx="63312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Data is accurate and unaltered. Tools: hashes, signatures, MACs.</a:t>
            </a:r>
            <a:endParaRPr lang="en-US" sz="1400" dirty="0"/>
          </a:p>
        </p:txBody>
      </p:sp>
      <p:sp>
        <p:nvSpPr>
          <p:cNvPr id="11" name="Shape 7"/>
          <p:cNvSpPr/>
          <p:nvPr/>
        </p:nvSpPr>
        <p:spPr>
          <a:xfrm>
            <a:off x="4775200" y="4460240"/>
            <a:ext cx="6604000" cy="878840"/>
          </a:xfrm>
          <a:prstGeom prst="roundRect">
            <a:avLst>
              <a:gd name="adj" fmla="val 11561"/>
            </a:avLst>
          </a:prstGeom>
          <a:solidFill>
            <a:srgbClr val="F4F1EA"/>
          </a:solidFill>
          <a:ln/>
        </p:spPr>
      </p:sp>
      <p:sp>
        <p:nvSpPr>
          <p:cNvPr id="12" name="Text 8"/>
          <p:cNvSpPr/>
          <p:nvPr/>
        </p:nvSpPr>
        <p:spPr>
          <a:xfrm>
            <a:off x="5003800" y="4638040"/>
            <a:ext cx="633120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B2D"/>
                </a:solidFill>
                <a:latin typeface="Times New Roman" pitchFamily="18" charset="0"/>
                <a:ea typeface="Times New Roman" pitchFamily="18" charset="-122"/>
                <a:cs typeface="Times New Roman" pitchFamily="18" charset="-120"/>
              </a:rPr>
              <a:t>Availability</a:t>
            </a:r>
            <a:endParaRPr lang="en-US" sz="1800" dirty="0"/>
          </a:p>
        </p:txBody>
      </p:sp>
      <p:sp>
        <p:nvSpPr>
          <p:cNvPr id="13" name="Text 9"/>
          <p:cNvSpPr/>
          <p:nvPr/>
        </p:nvSpPr>
        <p:spPr>
          <a:xfrm>
            <a:off x="5003800" y="4912360"/>
            <a:ext cx="63312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Systems and data are usable on demand. Tools: redundancy, backups.</a:t>
            </a:r>
            <a:endParaRPr lang="en-US" sz="1400" dirty="0"/>
          </a:p>
        </p:txBody>
      </p:sp>
      <p:sp>
        <p:nvSpPr>
          <p:cNvPr id="14" name="Text 10"/>
          <p:cNvSpPr/>
          <p:nvPr/>
        </p:nvSpPr>
        <p:spPr>
          <a:xfrm>
            <a:off x="812800" y="6238241"/>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Threat, vulnerability, attack, risk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91080"/>
          <a:ext cx="10556240" cy="2527300"/>
        </p:xfrm>
        <a:graphic>
          <a:graphicData uri="http://schemas.openxmlformats.org/drawingml/2006/table">
            <a:tbl>
              <a:tblPr/>
              <a:tblGrid>
                <a:gridCol w="3518747"/>
                <a:gridCol w="3518747"/>
                <a:gridCol w="3518747"/>
              </a:tblGrid>
              <a:tr h="505460">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Term</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Meaning</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Example</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054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Threat</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Potential cause of harm</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Ransomware gang</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054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Vulnerability</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Weakness that can be exploited</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Unpatched server</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054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Attack</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Deliberate attempt to exploit it</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Exploit run against server</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054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Risk</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Likelihood of loss times its impact</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Likely outage costing $1M</a:t>
                      </a:r>
                      <a:endParaRPr lang="en-US" sz="1500" dirty="0">
                        <a:latin typeface="Times New Roman" charset="0"/>
                        <a:ea typeface="Times New Roman" charset="0"/>
                        <a:cs typeface="Times New Roman" charset="0"/>
                      </a:endParaRPr>
                    </a:p>
                  </a:txBody>
                  <a:tcPr marL="114300" marR="1143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1"/>
          <p:cNvSpPr/>
          <p:nvPr/>
        </p:nvSpPr>
        <p:spPr>
          <a:xfrm>
            <a:off x="812800" y="6238241"/>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Threat categories (STRIDE)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91080"/>
          <a:ext cx="10556240" cy="3360420"/>
        </p:xfrm>
        <a:graphic>
          <a:graphicData uri="http://schemas.openxmlformats.org/drawingml/2006/table">
            <a:tbl>
              <a:tblPr/>
              <a:tblGrid>
                <a:gridCol w="3518747"/>
                <a:gridCol w="3518747"/>
                <a:gridCol w="3518747"/>
              </a:tblGrid>
              <a:tr h="480060">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Threat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Goal violated</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Example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Spoofing</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Authentication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Forged login or IP</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Tampering</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Integrity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Altered DB record</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Repudiation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Non-repudiation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Denied transaction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Information disclosure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Confidentiality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Data leak</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Denial of service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Availability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Traffic flood</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Elevation of privilege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Authorization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User gains admin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1"/>
          <p:cNvSpPr/>
          <p:nvPr/>
        </p:nvSpPr>
        <p:spPr>
          <a:xfrm>
            <a:off x="812800" y="6238239"/>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Passive vs active attacks</a:t>
            </a:r>
            <a:endParaRPr lang="en-US" sz="3600" dirty="0"/>
          </a:p>
        </p:txBody>
      </p:sp>
      <p:pic>
        <p:nvPicPr>
          <p:cNvPr id="4" name="Image 1" descr="Passive attack taps traffic; active attack alters traffic">    </p:cNvPr>
          <p:cNvPicPr>
            <a:picLocks noChangeAspect="1"/>
          </p:cNvPicPr>
          <p:nvPr/>
        </p:nvPicPr>
        <p:blipFill>
          <a:blip r:embed="rId2"/>
          <a:srcRect l="0" r="0" t="-9" b="-9"/>
          <a:stretch/>
        </p:blipFill>
        <p:spPr>
          <a:xfrm>
            <a:off x="812800" y="2280921"/>
            <a:ext cx="10566400" cy="2286000"/>
          </a:xfrm>
          <a:prstGeom prst="rect">
            <a:avLst/>
          </a:prstGeom>
        </p:spPr>
      </p:pic>
      <p:sp>
        <p:nvSpPr>
          <p:cNvPr id="5" name="Text 1"/>
          <p:cNvSpPr/>
          <p:nvPr/>
        </p:nvSpPr>
        <p:spPr>
          <a:xfrm>
            <a:off x="812800" y="6238239"/>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Malware and social engineering</a:t>
            </a:r>
            <a:endParaRPr lang="en-US" sz="3600" dirty="0"/>
          </a:p>
        </p:txBody>
      </p:sp>
      <p:sp>
        <p:nvSpPr>
          <p:cNvPr id="4" name="Shape 1"/>
          <p:cNvSpPr/>
          <p:nvPr/>
        </p:nvSpPr>
        <p:spPr>
          <a:xfrm>
            <a:off x="812800" y="2280921"/>
            <a:ext cx="5156200" cy="1981200"/>
          </a:xfrm>
          <a:prstGeom prst="roundRect">
            <a:avLst>
              <a:gd name="adj" fmla="val 5128"/>
            </a:avLst>
          </a:prstGeom>
          <a:solidFill>
            <a:srgbClr val="F4F1EA"/>
          </a:solidFill>
          <a:ln/>
        </p:spPr>
      </p:sp>
      <p:sp>
        <p:nvSpPr>
          <p:cNvPr id="5" name="Text 2"/>
          <p:cNvSpPr/>
          <p:nvPr/>
        </p:nvSpPr>
        <p:spPr>
          <a:xfrm>
            <a:off x="1066800" y="2534921"/>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743B"/>
                </a:solidFill>
                <a:latin typeface="Times New Roman" pitchFamily="18" charset="0"/>
                <a:ea typeface="Times New Roman" pitchFamily="18" charset="-122"/>
                <a:cs typeface="Times New Roman" pitchFamily="18" charset="-120"/>
              </a:rPr>
              <a:t>Malware</a:t>
            </a:r>
            <a:endParaRPr lang="en-US" sz="2000" dirty="0"/>
          </a:p>
        </p:txBody>
      </p:sp>
      <p:sp>
        <p:nvSpPr>
          <p:cNvPr id="6" name="Text 3"/>
          <p:cNvSpPr/>
          <p:nvPr/>
        </p:nvSpPr>
        <p:spPr>
          <a:xfrm>
            <a:off x="1150620" y="2941321"/>
            <a:ext cx="4696206" cy="10922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Virus/worm:</a:t>
            </a:r>
            <a:r>
              <a:rPr lang="en-US" sz="1500" dirty="0">
                <a:solidFill>
                  <a:srgbClr val="0F1B2D"/>
                </a:solidFill>
                <a:latin typeface="Times New Roman" pitchFamily="18" charset="0"/>
                <a:ea typeface="Times New Roman" pitchFamily="18" charset="-122"/>
                <a:cs typeface="Times New Roman" pitchFamily="18" charset="-120"/>
              </a:rPr>
              <a:t> self-replicating code</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Trojan:</a:t>
            </a:r>
            <a:r>
              <a:rPr lang="en-US" sz="1500" dirty="0">
                <a:solidFill>
                  <a:srgbClr val="0F1B2D"/>
                </a:solidFill>
                <a:latin typeface="Times New Roman" pitchFamily="18" charset="0"/>
                <a:ea typeface="Times New Roman" pitchFamily="18" charset="-122"/>
                <a:cs typeface="Times New Roman" pitchFamily="18" charset="-120"/>
              </a:rPr>
              <a:t> disguised as useful software</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Ransomware:</a:t>
            </a:r>
            <a:r>
              <a:rPr lang="en-US" sz="1500" dirty="0">
                <a:solidFill>
                  <a:srgbClr val="0F1B2D"/>
                </a:solidFill>
                <a:latin typeface="Times New Roman" pitchFamily="18" charset="0"/>
                <a:ea typeface="Times New Roman" pitchFamily="18" charset="-122"/>
                <a:cs typeface="Times New Roman" pitchFamily="18" charset="-120"/>
              </a:rPr>
              <a:t> encrypts data for payment</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Spyware/keylogger:</a:t>
            </a:r>
            <a:r>
              <a:rPr lang="en-US" sz="1500" dirty="0">
                <a:solidFill>
                  <a:srgbClr val="0F1B2D"/>
                </a:solidFill>
                <a:latin typeface="Times New Roman" pitchFamily="18" charset="0"/>
                <a:ea typeface="Times New Roman" pitchFamily="18" charset="-122"/>
                <a:cs typeface="Times New Roman" pitchFamily="18" charset="-120"/>
              </a:rPr>
              <a:t> steals secrets</a:t>
            </a:r>
            <a:endParaRPr lang="en-US" sz="1500" dirty="0"/>
          </a:p>
        </p:txBody>
      </p:sp>
      <p:sp>
        <p:nvSpPr>
          <p:cNvPr id="7" name="Shape 4"/>
          <p:cNvSpPr/>
          <p:nvPr/>
        </p:nvSpPr>
        <p:spPr>
          <a:xfrm>
            <a:off x="6223000" y="2280921"/>
            <a:ext cx="5156200" cy="1981200"/>
          </a:xfrm>
          <a:prstGeom prst="roundRect">
            <a:avLst>
              <a:gd name="adj" fmla="val 5128"/>
            </a:avLst>
          </a:prstGeom>
          <a:solidFill>
            <a:srgbClr val="F4F1EA"/>
          </a:solidFill>
          <a:ln/>
        </p:spPr>
      </p:sp>
      <p:sp>
        <p:nvSpPr>
          <p:cNvPr id="8" name="Text 5"/>
          <p:cNvSpPr/>
          <p:nvPr/>
        </p:nvSpPr>
        <p:spPr>
          <a:xfrm>
            <a:off x="6477000" y="2534921"/>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743B"/>
                </a:solidFill>
                <a:latin typeface="Times New Roman" pitchFamily="18" charset="0"/>
                <a:ea typeface="Times New Roman" pitchFamily="18" charset="-122"/>
                <a:cs typeface="Times New Roman" pitchFamily="18" charset="-120"/>
              </a:rPr>
              <a:t>Social engineering</a:t>
            </a:r>
            <a:endParaRPr lang="en-US" sz="2000" dirty="0"/>
          </a:p>
        </p:txBody>
      </p:sp>
      <p:sp>
        <p:nvSpPr>
          <p:cNvPr id="9" name="Text 6"/>
          <p:cNvSpPr/>
          <p:nvPr/>
        </p:nvSpPr>
        <p:spPr>
          <a:xfrm>
            <a:off x="6560820" y="2941321"/>
            <a:ext cx="4696206" cy="10922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Phishing:</a:t>
            </a:r>
            <a:r>
              <a:rPr lang="en-US" sz="1500" dirty="0">
                <a:solidFill>
                  <a:srgbClr val="0F1B2D"/>
                </a:solidFill>
                <a:latin typeface="Times New Roman" pitchFamily="18" charset="0"/>
                <a:ea typeface="Times New Roman" pitchFamily="18" charset="-122"/>
                <a:cs typeface="Times New Roman" pitchFamily="18" charset="-120"/>
              </a:rPr>
              <a:t> fake emails and sites</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Spear phishing:</a:t>
            </a:r>
            <a:r>
              <a:rPr lang="en-US" sz="1500" dirty="0">
                <a:solidFill>
                  <a:srgbClr val="0F1B2D"/>
                </a:solidFill>
                <a:latin typeface="Times New Roman" pitchFamily="18" charset="0"/>
                <a:ea typeface="Times New Roman" pitchFamily="18" charset="-122"/>
                <a:cs typeface="Times New Roman" pitchFamily="18" charset="-120"/>
              </a:rPr>
              <a:t> targeted at one person</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Pretexting:</a:t>
            </a:r>
            <a:r>
              <a:rPr lang="en-US" sz="1500" dirty="0">
                <a:solidFill>
                  <a:srgbClr val="0F1B2D"/>
                </a:solidFill>
                <a:latin typeface="Times New Roman" pitchFamily="18" charset="0"/>
                <a:ea typeface="Times New Roman" pitchFamily="18" charset="-122"/>
                <a:cs typeface="Times New Roman" pitchFamily="18" charset="-120"/>
              </a:rPr>
              <a:t> invented scenario</a:t>
            </a:r>
            <a:endParaRPr lang="en-US" sz="1500" dirty="0"/>
          </a:p>
          <a:p>
            <a:pPr algn="l" marL="170180" indent="-170180">
              <a:lnSpc>
                <a:spcPts val="2100"/>
              </a:lnSpc>
              <a:buSzPct val="100000"/>
              <a:buChar char="•"/>
            </a:pPr>
            <a:r>
              <a:rPr lang="en-US" sz="1500" b="1" dirty="0">
                <a:solidFill>
                  <a:srgbClr val="0F1B2D"/>
                </a:solidFill>
                <a:latin typeface="Times New Roman" pitchFamily="18" charset="0"/>
                <a:ea typeface="Times New Roman" pitchFamily="18" charset="-122"/>
                <a:cs typeface="Times New Roman" pitchFamily="18" charset="-120"/>
              </a:rPr>
              <a:t>Baiting:</a:t>
            </a:r>
            <a:r>
              <a:rPr lang="en-US" sz="1500" dirty="0">
                <a:solidFill>
                  <a:srgbClr val="0F1B2D"/>
                </a:solidFill>
                <a:latin typeface="Times New Roman" pitchFamily="18" charset="0"/>
                <a:ea typeface="Times New Roman" pitchFamily="18" charset="-122"/>
                <a:cs typeface="Times New Roman" pitchFamily="18" charset="-120"/>
              </a:rPr>
              <a:t> infected USB drives</a:t>
            </a:r>
            <a:endParaRPr lang="en-US" sz="1500" dirty="0"/>
          </a:p>
        </p:txBody>
      </p:sp>
      <p:sp>
        <p:nvSpPr>
          <p:cNvPr id="10" name="Text 7"/>
          <p:cNvSpPr/>
          <p:nvPr/>
        </p:nvSpPr>
        <p:spPr>
          <a:xfrm>
            <a:off x="812800" y="6238239"/>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Network and application attacks</a:t>
            </a:r>
            <a:endParaRPr lang="en-US" sz="3600" dirty="0"/>
          </a:p>
        </p:txBody>
      </p:sp>
      <p:sp>
        <p:nvSpPr>
          <p:cNvPr id="4" name="Shape 1"/>
          <p:cNvSpPr/>
          <p:nvPr/>
        </p:nvSpPr>
        <p:spPr>
          <a:xfrm>
            <a:off x="812800" y="2280921"/>
            <a:ext cx="5181600" cy="980440"/>
          </a:xfrm>
          <a:prstGeom prst="roundRect">
            <a:avLst>
              <a:gd name="adj" fmla="val 10363"/>
            </a:avLst>
          </a:prstGeom>
          <a:solidFill>
            <a:srgbClr val="F4F1EA"/>
          </a:solidFill>
          <a:ln/>
        </p:spPr>
      </p:sp>
      <p:sp>
        <p:nvSpPr>
          <p:cNvPr id="5" name="Text 2"/>
          <p:cNvSpPr/>
          <p:nvPr/>
        </p:nvSpPr>
        <p:spPr>
          <a:xfrm>
            <a:off x="1041400" y="250952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70"/>
                </a:solidFill>
                <a:latin typeface="Times New Roman" pitchFamily="18" charset="0"/>
                <a:ea typeface="Times New Roman" pitchFamily="18" charset="-122"/>
                <a:cs typeface="Times New Roman" pitchFamily="18" charset="-120"/>
              </a:rPr>
              <a:t>DoS / DDoS</a:t>
            </a:r>
            <a:endParaRPr lang="en-US" sz="1800" dirty="0"/>
          </a:p>
        </p:txBody>
      </p:sp>
      <p:sp>
        <p:nvSpPr>
          <p:cNvPr id="6" name="Text 3"/>
          <p:cNvSpPr/>
          <p:nvPr/>
        </p:nvSpPr>
        <p:spPr>
          <a:xfrm>
            <a:off x="1041400" y="2783839"/>
            <a:ext cx="48661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Flood a service with traffic until it cannot respond.</a:t>
            </a:r>
            <a:endParaRPr lang="en-US" sz="1400" dirty="0"/>
          </a:p>
        </p:txBody>
      </p:sp>
      <p:sp>
        <p:nvSpPr>
          <p:cNvPr id="7" name="Shape 4"/>
          <p:cNvSpPr/>
          <p:nvPr/>
        </p:nvSpPr>
        <p:spPr>
          <a:xfrm>
            <a:off x="6197600" y="2280921"/>
            <a:ext cx="5181600" cy="980440"/>
          </a:xfrm>
          <a:prstGeom prst="roundRect">
            <a:avLst>
              <a:gd name="adj" fmla="val 10363"/>
            </a:avLst>
          </a:prstGeom>
          <a:solidFill>
            <a:srgbClr val="F4F1EA"/>
          </a:solidFill>
          <a:ln/>
        </p:spPr>
      </p:sp>
      <p:sp>
        <p:nvSpPr>
          <p:cNvPr id="8" name="Text 5"/>
          <p:cNvSpPr/>
          <p:nvPr/>
        </p:nvSpPr>
        <p:spPr>
          <a:xfrm>
            <a:off x="6426200" y="250952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70"/>
                </a:solidFill>
                <a:latin typeface="Times New Roman" pitchFamily="18" charset="0"/>
                <a:ea typeface="Times New Roman" pitchFamily="18" charset="-122"/>
                <a:cs typeface="Times New Roman" pitchFamily="18" charset="-120"/>
              </a:rPr>
              <a:t>Man-in-the-middle</a:t>
            </a:r>
            <a:endParaRPr lang="en-US" sz="1800" dirty="0"/>
          </a:p>
        </p:txBody>
      </p:sp>
      <p:sp>
        <p:nvSpPr>
          <p:cNvPr id="9" name="Text 6"/>
          <p:cNvSpPr/>
          <p:nvPr/>
        </p:nvSpPr>
        <p:spPr>
          <a:xfrm>
            <a:off x="6426200" y="2783839"/>
            <a:ext cx="48661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Relay and alter traffic between two parties.</a:t>
            </a:r>
            <a:endParaRPr lang="en-US" sz="1400" dirty="0"/>
          </a:p>
        </p:txBody>
      </p:sp>
      <p:sp>
        <p:nvSpPr>
          <p:cNvPr id="10" name="Shape 7"/>
          <p:cNvSpPr/>
          <p:nvPr/>
        </p:nvSpPr>
        <p:spPr>
          <a:xfrm>
            <a:off x="812800" y="3464561"/>
            <a:ext cx="5181600" cy="980440"/>
          </a:xfrm>
          <a:prstGeom prst="roundRect">
            <a:avLst>
              <a:gd name="adj" fmla="val 10363"/>
            </a:avLst>
          </a:prstGeom>
          <a:solidFill>
            <a:srgbClr val="F4F1EA"/>
          </a:solidFill>
          <a:ln/>
        </p:spPr>
      </p:sp>
      <p:sp>
        <p:nvSpPr>
          <p:cNvPr id="11" name="Text 8"/>
          <p:cNvSpPr/>
          <p:nvPr/>
        </p:nvSpPr>
        <p:spPr>
          <a:xfrm>
            <a:off x="1041400" y="369316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70"/>
                </a:solidFill>
                <a:latin typeface="Times New Roman" pitchFamily="18" charset="0"/>
                <a:ea typeface="Times New Roman" pitchFamily="18" charset="-122"/>
                <a:cs typeface="Times New Roman" pitchFamily="18" charset="-120"/>
              </a:rPr>
              <a:t>SQL injection</a:t>
            </a:r>
            <a:endParaRPr lang="en-US" sz="1800" dirty="0"/>
          </a:p>
        </p:txBody>
      </p:sp>
      <p:sp>
        <p:nvSpPr>
          <p:cNvPr id="12" name="Text 9"/>
          <p:cNvSpPr/>
          <p:nvPr/>
        </p:nvSpPr>
        <p:spPr>
          <a:xfrm>
            <a:off x="1041400" y="3967482"/>
            <a:ext cx="48661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Untrusted input changes a database query.</a:t>
            </a:r>
            <a:endParaRPr lang="en-US" sz="1400" dirty="0"/>
          </a:p>
        </p:txBody>
      </p:sp>
      <p:sp>
        <p:nvSpPr>
          <p:cNvPr id="13" name="Shape 10"/>
          <p:cNvSpPr/>
          <p:nvPr/>
        </p:nvSpPr>
        <p:spPr>
          <a:xfrm>
            <a:off x="6197600" y="3464561"/>
            <a:ext cx="5181600" cy="980440"/>
          </a:xfrm>
          <a:prstGeom prst="roundRect">
            <a:avLst>
              <a:gd name="adj" fmla="val 10363"/>
            </a:avLst>
          </a:prstGeom>
          <a:solidFill>
            <a:srgbClr val="F4F1EA"/>
          </a:solidFill>
          <a:ln/>
        </p:spPr>
      </p:sp>
      <p:sp>
        <p:nvSpPr>
          <p:cNvPr id="14" name="Text 11"/>
          <p:cNvSpPr/>
          <p:nvPr/>
        </p:nvSpPr>
        <p:spPr>
          <a:xfrm>
            <a:off x="6426200" y="369316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7A70"/>
                </a:solidFill>
                <a:latin typeface="Times New Roman" pitchFamily="18" charset="0"/>
                <a:ea typeface="Times New Roman" pitchFamily="18" charset="-122"/>
                <a:cs typeface="Times New Roman" pitchFamily="18" charset="-120"/>
              </a:rPr>
              <a:t>Cross-site scripting</a:t>
            </a:r>
            <a:endParaRPr lang="en-US" sz="1800" dirty="0"/>
          </a:p>
        </p:txBody>
      </p:sp>
      <p:sp>
        <p:nvSpPr>
          <p:cNvPr id="15" name="Text 12"/>
          <p:cNvSpPr/>
          <p:nvPr/>
        </p:nvSpPr>
        <p:spPr>
          <a:xfrm>
            <a:off x="6426200" y="3967482"/>
            <a:ext cx="48661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Injected script runs in another user's browser.</a:t>
            </a:r>
            <a:endParaRPr lang="en-US" sz="1400" dirty="0"/>
          </a:p>
        </p:txBody>
      </p:sp>
      <p:sp>
        <p:nvSpPr>
          <p:cNvPr id="16" name="Text 13"/>
          <p:cNvSpPr/>
          <p:nvPr/>
        </p:nvSpPr>
        <p:spPr>
          <a:xfrm>
            <a:off x="812800" y="6238239"/>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Risk = likelihood × impact</a:t>
            </a:r>
            <a:endParaRPr lang="en-US" sz="3600" dirty="0"/>
          </a:p>
        </p:txBody>
      </p:sp>
      <p:pic>
        <p:nvPicPr>
          <p:cNvPr id="4" name="Image 1" descr="3 by 3 risk matrix, likelihood against impact">    </p:cNvPr>
          <p:cNvPicPr>
            <a:picLocks noChangeAspect="1"/>
          </p:cNvPicPr>
          <p:nvPr/>
        </p:nvPicPr>
        <p:blipFill>
          <a:blip r:embed="rId2"/>
          <a:srcRect l="0" r="0" t="0" b="0"/>
          <a:stretch/>
        </p:blipFill>
        <p:spPr>
          <a:xfrm>
            <a:off x="812800" y="2280921"/>
            <a:ext cx="3556000" cy="3175000"/>
          </a:xfrm>
          <a:prstGeom prst="rect">
            <a:avLst/>
          </a:prstGeom>
        </p:spPr>
      </p:pic>
      <p:sp>
        <p:nvSpPr>
          <p:cNvPr id="5" name="Text 1"/>
          <p:cNvSpPr/>
          <p:nvPr/>
        </p:nvSpPr>
        <p:spPr>
          <a:xfrm>
            <a:off x="4876800" y="2674621"/>
            <a:ext cx="66974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Times New Roman" pitchFamily="18" charset="0"/>
                <a:ea typeface="Times New Roman" pitchFamily="18" charset="-122"/>
                <a:cs typeface="Times New Roman" pitchFamily="18" charset="-120"/>
              </a:rPr>
              <a:t>Everyday example</a:t>
            </a:r>
            <a:endParaRPr lang="en-US" sz="1800" dirty="0"/>
          </a:p>
        </p:txBody>
      </p:sp>
      <p:sp>
        <p:nvSpPr>
          <p:cNvPr id="6" name="Text 2"/>
          <p:cNvSpPr/>
          <p:nvPr/>
        </p:nvSpPr>
        <p:spPr>
          <a:xfrm>
            <a:off x="4876800" y="3075939"/>
            <a:ext cx="6697472"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F1B2D"/>
                </a:solidFill>
                <a:latin typeface="Times New Roman" pitchFamily="18" charset="0"/>
                <a:ea typeface="Times New Roman" pitchFamily="18" charset="-122"/>
                <a:cs typeface="Times New Roman" pitchFamily="18" charset="-120"/>
              </a:rPr>
              <a:t>Phone left unlocked in a café: fairly likely to be picked up, very costly if it is. So you lock it.</a:t>
            </a:r>
            <a:endParaRPr lang="en-US" sz="1400" dirty="0"/>
          </a:p>
        </p:txBody>
      </p:sp>
      <p:sp>
        <p:nvSpPr>
          <p:cNvPr id="7" name="Text 3"/>
          <p:cNvSpPr/>
          <p:nvPr/>
        </p:nvSpPr>
        <p:spPr>
          <a:xfrm>
            <a:off x="4876800" y="3665221"/>
            <a:ext cx="66974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743B"/>
                </a:solidFill>
                <a:latin typeface="Times New Roman" pitchFamily="18" charset="0"/>
                <a:ea typeface="Times New Roman" pitchFamily="18" charset="-122"/>
                <a:cs typeface="Times New Roman" pitchFamily="18" charset="-120"/>
              </a:rPr>
              <a:t>Four ways to handle risk</a:t>
            </a:r>
            <a:endParaRPr lang="en-US" sz="1800" dirty="0"/>
          </a:p>
        </p:txBody>
      </p:sp>
      <p:sp>
        <p:nvSpPr>
          <p:cNvPr id="8" name="Text 4"/>
          <p:cNvSpPr/>
          <p:nvPr/>
        </p:nvSpPr>
        <p:spPr>
          <a:xfrm>
            <a:off x="4974082" y="4066542"/>
            <a:ext cx="6592570" cy="1021080"/>
          </a:xfrm>
          <a:prstGeom prst="rect">
            <a:avLst/>
          </a:prstGeom>
          <a:noFill/>
          <a:ln/>
        </p:spPr>
        <p:txBody>
          <a:bodyPr wrap="square" lIns="0" tIns="0" rIns="0" bIns="0" rtlCol="0" anchor="t">
            <a:normAutofit/>
          </a:bodyPr>
          <a:lstStyle/>
          <a:p>
            <a:pPr algn="l" marL="156718" indent="-156718">
              <a:lnSpc>
                <a:spcPts val="1960"/>
              </a:lnSpc>
              <a:buSzPct val="100000"/>
              <a:buChar char="•"/>
            </a:pPr>
            <a:r>
              <a:rPr lang="en-US" sz="1400" b="1" dirty="0">
                <a:solidFill>
                  <a:srgbClr val="0F1B2D"/>
                </a:solidFill>
                <a:latin typeface="Times New Roman" pitchFamily="18" charset="0"/>
                <a:ea typeface="Times New Roman" pitchFamily="18" charset="-122"/>
                <a:cs typeface="Times New Roman" pitchFamily="18" charset="-120"/>
              </a:rPr>
              <a:t>Mitigate:</a:t>
            </a:r>
            <a:r>
              <a:rPr lang="en-US" sz="1400" dirty="0">
                <a:solidFill>
                  <a:srgbClr val="0F1B2D"/>
                </a:solidFill>
                <a:latin typeface="Times New Roman" pitchFamily="18" charset="0"/>
                <a:ea typeface="Times New Roman" pitchFamily="18" charset="-122"/>
                <a:cs typeface="Times New Roman" pitchFamily="18" charset="-120"/>
              </a:rPr>
              <a:t> add a control (firewall)</a:t>
            </a:r>
            <a:endParaRPr lang="en-US" sz="1400" dirty="0"/>
          </a:p>
          <a:p>
            <a:pPr algn="l" marL="156718" indent="-156718">
              <a:lnSpc>
                <a:spcPts val="1960"/>
              </a:lnSpc>
              <a:buSzPct val="100000"/>
              <a:buChar char="•"/>
            </a:pPr>
            <a:r>
              <a:rPr lang="en-US" sz="1400" b="1" dirty="0">
                <a:solidFill>
                  <a:srgbClr val="0F1B2D"/>
                </a:solidFill>
                <a:latin typeface="Times New Roman" pitchFamily="18" charset="0"/>
                <a:ea typeface="Times New Roman" pitchFamily="18" charset="-122"/>
                <a:cs typeface="Times New Roman" pitchFamily="18" charset="-120"/>
              </a:rPr>
              <a:t>Transfer:</a:t>
            </a:r>
            <a:r>
              <a:rPr lang="en-US" sz="1400" dirty="0">
                <a:solidFill>
                  <a:srgbClr val="0F1B2D"/>
                </a:solidFill>
                <a:latin typeface="Times New Roman" pitchFamily="18" charset="0"/>
                <a:ea typeface="Times New Roman" pitchFamily="18" charset="-122"/>
                <a:cs typeface="Times New Roman" pitchFamily="18" charset="-120"/>
              </a:rPr>
              <a:t> share it (insurance)</a:t>
            </a:r>
            <a:endParaRPr lang="en-US" sz="1400" dirty="0"/>
          </a:p>
          <a:p>
            <a:pPr algn="l" marL="156718" indent="-156718">
              <a:lnSpc>
                <a:spcPts val="1960"/>
              </a:lnSpc>
              <a:buSzPct val="100000"/>
              <a:buChar char="•"/>
            </a:pPr>
            <a:r>
              <a:rPr lang="en-US" sz="1400" b="1" dirty="0">
                <a:solidFill>
                  <a:srgbClr val="0F1B2D"/>
                </a:solidFill>
                <a:latin typeface="Times New Roman" pitchFamily="18" charset="0"/>
                <a:ea typeface="Times New Roman" pitchFamily="18" charset="-122"/>
                <a:cs typeface="Times New Roman" pitchFamily="18" charset="-120"/>
              </a:rPr>
              <a:t>Avoid:</a:t>
            </a:r>
            <a:r>
              <a:rPr lang="en-US" sz="1400" dirty="0">
                <a:solidFill>
                  <a:srgbClr val="0F1B2D"/>
                </a:solidFill>
                <a:latin typeface="Times New Roman" pitchFamily="18" charset="0"/>
                <a:ea typeface="Times New Roman" pitchFamily="18" charset="-122"/>
                <a:cs typeface="Times New Roman" pitchFamily="18" charset="-120"/>
              </a:rPr>
              <a:t> stop the activity</a:t>
            </a:r>
            <a:endParaRPr lang="en-US" sz="1400" dirty="0"/>
          </a:p>
          <a:p>
            <a:pPr algn="l" marL="156718" indent="-156718">
              <a:lnSpc>
                <a:spcPts val="1960"/>
              </a:lnSpc>
              <a:buSzPct val="100000"/>
              <a:buChar char="•"/>
            </a:pPr>
            <a:r>
              <a:rPr lang="en-US" sz="1400" b="1" dirty="0">
                <a:solidFill>
                  <a:srgbClr val="0F1B2D"/>
                </a:solidFill>
                <a:latin typeface="Times New Roman" pitchFamily="18" charset="0"/>
                <a:ea typeface="Times New Roman" pitchFamily="18" charset="-122"/>
                <a:cs typeface="Times New Roman" pitchFamily="18" charset="-120"/>
              </a:rPr>
              <a:t>Accept:</a:t>
            </a:r>
            <a:r>
              <a:rPr lang="en-US" sz="1400" dirty="0">
                <a:solidFill>
                  <a:srgbClr val="0F1B2D"/>
                </a:solidFill>
                <a:latin typeface="Times New Roman" pitchFamily="18" charset="0"/>
                <a:ea typeface="Times New Roman" pitchFamily="18" charset="-122"/>
                <a:cs typeface="Times New Roman" pitchFamily="18" charset="-120"/>
              </a:rPr>
              <a:t> small risk, live with it</a:t>
            </a:r>
            <a:endParaRPr lang="en-US" sz="1400" dirty="0"/>
          </a:p>
        </p:txBody>
      </p:sp>
      <p:sp>
        <p:nvSpPr>
          <p:cNvPr id="9" name="Text 5"/>
          <p:cNvSpPr/>
          <p:nvPr/>
        </p:nvSpPr>
        <p:spPr>
          <a:xfrm>
            <a:off x="812800" y="6238242"/>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Attack impact on security goals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91081"/>
          <a:ext cx="10556240" cy="2880360"/>
        </p:xfrm>
        <a:graphic>
          <a:graphicData uri="http://schemas.openxmlformats.org/drawingml/2006/table">
            <a:tbl>
              <a:tblPr/>
              <a:tblGrid>
                <a:gridCol w="2639060"/>
                <a:gridCol w="2639060"/>
                <a:gridCol w="2639060"/>
                <a:gridCol w="2639060"/>
              </a:tblGrid>
              <a:tr h="480060">
                <a:tc>
                  <a:txBody>
                    <a:bodyPr/>
                    <a:lstStyle/>
                    <a:p>
                      <a:pP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Attack</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Confidentiality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Integrity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2100"/>
                        </a:lnSpc>
                        <a:buNone/>
                      </a:pPr>
                      <a:r>
                        <a:rPr lang="en-US" sz="1500" b="1" dirty="0">
                          <a:solidFill>
                            <a:srgbClr val="E8743B"/>
                          </a:solidFill>
                          <a:latin typeface="Times New Roman" pitchFamily="18" charset="0"/>
                          <a:ea typeface="Times New Roman" pitchFamily="18" charset="-122"/>
                          <a:cs typeface="Times New Roman" pitchFamily="18" charset="-120"/>
                        </a:rPr>
                        <a:t>Availability</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Eavesdropping</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Man-in-the-middle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SQL injection</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Ransomware</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0060">
                <a:tc>
                  <a:txBody>
                    <a:bodyPr/>
                    <a:lstStyle/>
                    <a:p>
                      <a:pP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DDoS</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0F1B2D"/>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E8743B"/>
                          </a:solidFill>
                          <a:latin typeface="Times New Roman" pitchFamily="18" charset="0"/>
                          <a:ea typeface="Times New Roman" pitchFamily="18" charset="-122"/>
                          <a:cs typeface="Times New Roman" pitchFamily="18" charset="-120"/>
                        </a:rPr>
                        <a:t>●</a:t>
                      </a:r>
                      <a:endParaRPr lang="en-US" sz="1500" dirty="0">
                        <a:latin typeface="Times New Roman" charset="0"/>
                        <a:ea typeface="Times New Roman" charset="0"/>
                        <a:cs typeface="Times New Roman" charset="0"/>
                      </a:endParaRPr>
                    </a:p>
                  </a:txBody>
                  <a:tcPr marL="101600" marR="1016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1"/>
          <p:cNvSpPr/>
          <p:nvPr/>
        </p:nvSpPr>
        <p:spPr>
          <a:xfrm>
            <a:off x="812800" y="6238242"/>
            <a:ext cx="416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IMATS Engineering and Saveetha Institute of Medical and Technical Sciences logos">    </p:cNvPr>
          <p:cNvPicPr>
            <a:picLocks noChangeAspect="1"/>
          </p:cNvPicPr>
          <p:nvPr/>
        </p:nvPicPr>
        <p:blipFill>
          <a:blip r:embed="rId1"/>
          <a:srcRect l="-56" r="-56" t="0" b="0"/>
          <a:stretch/>
        </p:blipFill>
        <p:spPr>
          <a:xfrm>
            <a:off x="812800" y="177800"/>
            <a:ext cx="10566400" cy="1143000"/>
          </a:xfrm>
          <a:prstGeom prst="rect">
            <a:avLst/>
          </a:prstGeom>
        </p:spPr>
      </p:pic>
      <p:sp>
        <p:nvSpPr>
          <p:cNvPr id="3" name="Text 0"/>
          <p:cNvSpPr/>
          <p:nvPr>
            <p:ph type="title"/>
          </p:nvPr>
        </p:nvSpPr>
        <p:spPr>
          <a:xfrm>
            <a:off x="812800" y="1524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B2D"/>
                </a:solidFill>
                <a:latin typeface="Times New Roman" pitchFamily="18" charset="0"/>
                <a:ea typeface="Times New Roman" pitchFamily="18" charset="-122"/>
                <a:cs typeface="Times New Roman" pitchFamily="18" charset="-120"/>
              </a:rPr>
              <a:t>Defense in depth: takeaways</a:t>
            </a:r>
            <a:endParaRPr lang="en-US" sz="3600" dirty="0"/>
          </a:p>
        </p:txBody>
      </p:sp>
      <p:sp>
        <p:nvSpPr>
          <p:cNvPr id="4" name="Shape 1"/>
          <p:cNvSpPr/>
          <p:nvPr/>
        </p:nvSpPr>
        <p:spPr>
          <a:xfrm>
            <a:off x="812800" y="2280921"/>
            <a:ext cx="3386614" cy="1259840"/>
          </a:xfrm>
          <a:prstGeom prst="roundRect">
            <a:avLst>
              <a:gd name="adj" fmla="val 8065"/>
            </a:avLst>
          </a:prstGeom>
          <a:solidFill>
            <a:srgbClr val="F4F1EA"/>
          </a:solidFill>
          <a:ln/>
        </p:spPr>
      </p:sp>
      <p:sp>
        <p:nvSpPr>
          <p:cNvPr id="5" name="Text 2"/>
          <p:cNvSpPr/>
          <p:nvPr/>
        </p:nvSpPr>
        <p:spPr>
          <a:xfrm>
            <a:off x="1041400" y="2509521"/>
            <a:ext cx="301729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Times New Roman" pitchFamily="18" charset="0"/>
                <a:ea typeface="Times New Roman" pitchFamily="18" charset="-122"/>
                <a:cs typeface="Times New Roman" pitchFamily="18" charset="-120"/>
              </a:rPr>
              <a:t>Prevent</a:t>
            </a:r>
            <a:endParaRPr lang="en-US" sz="2000" dirty="0"/>
          </a:p>
        </p:txBody>
      </p:sp>
      <p:sp>
        <p:nvSpPr>
          <p:cNvPr id="6" name="Text 3"/>
          <p:cNvSpPr/>
          <p:nvPr/>
        </p:nvSpPr>
        <p:spPr>
          <a:xfrm>
            <a:off x="1041400" y="2814321"/>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Encryption, patching, least privilege, MFA, input validation.</a:t>
            </a:r>
            <a:endParaRPr lang="en-US" sz="1400" dirty="0"/>
          </a:p>
        </p:txBody>
      </p:sp>
      <p:sp>
        <p:nvSpPr>
          <p:cNvPr id="7" name="Shape 4"/>
          <p:cNvSpPr/>
          <p:nvPr/>
        </p:nvSpPr>
        <p:spPr>
          <a:xfrm>
            <a:off x="4402614" y="2280921"/>
            <a:ext cx="3386693" cy="1259840"/>
          </a:xfrm>
          <a:prstGeom prst="roundRect">
            <a:avLst>
              <a:gd name="adj" fmla="val 8065"/>
            </a:avLst>
          </a:prstGeom>
          <a:solidFill>
            <a:srgbClr val="F4F1EA"/>
          </a:solidFill>
          <a:ln/>
        </p:spPr>
      </p:sp>
      <p:sp>
        <p:nvSpPr>
          <p:cNvPr id="8" name="Text 5"/>
          <p:cNvSpPr/>
          <p:nvPr/>
        </p:nvSpPr>
        <p:spPr>
          <a:xfrm>
            <a:off x="4631214" y="2509521"/>
            <a:ext cx="30173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Times New Roman" pitchFamily="18" charset="0"/>
                <a:ea typeface="Times New Roman" pitchFamily="18" charset="-122"/>
                <a:cs typeface="Times New Roman" pitchFamily="18" charset="-120"/>
              </a:rPr>
              <a:t>Detect</a:t>
            </a:r>
            <a:endParaRPr lang="en-US" sz="2000" dirty="0"/>
          </a:p>
        </p:txBody>
      </p:sp>
      <p:sp>
        <p:nvSpPr>
          <p:cNvPr id="9" name="Text 6"/>
          <p:cNvSpPr/>
          <p:nvPr/>
        </p:nvSpPr>
        <p:spPr>
          <a:xfrm>
            <a:off x="4631214" y="281432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Logging, IDS/IPS, SIEM, integrity monitoring.</a:t>
            </a:r>
            <a:endParaRPr lang="en-US" sz="1400" dirty="0"/>
          </a:p>
        </p:txBody>
      </p:sp>
      <p:sp>
        <p:nvSpPr>
          <p:cNvPr id="10" name="Shape 7"/>
          <p:cNvSpPr/>
          <p:nvPr/>
        </p:nvSpPr>
        <p:spPr>
          <a:xfrm>
            <a:off x="7992507" y="2280921"/>
            <a:ext cx="3386693" cy="1259840"/>
          </a:xfrm>
          <a:prstGeom prst="roundRect">
            <a:avLst>
              <a:gd name="adj" fmla="val 8065"/>
            </a:avLst>
          </a:prstGeom>
          <a:solidFill>
            <a:srgbClr val="F4F1EA"/>
          </a:solidFill>
          <a:ln/>
        </p:spPr>
      </p:sp>
      <p:sp>
        <p:nvSpPr>
          <p:cNvPr id="11" name="Text 8"/>
          <p:cNvSpPr/>
          <p:nvPr/>
        </p:nvSpPr>
        <p:spPr>
          <a:xfrm>
            <a:off x="8221107" y="2509521"/>
            <a:ext cx="30173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Times New Roman" pitchFamily="18" charset="0"/>
                <a:ea typeface="Times New Roman" pitchFamily="18" charset="-122"/>
                <a:cs typeface="Times New Roman" pitchFamily="18" charset="-120"/>
              </a:rPr>
              <a:t>Respond</a:t>
            </a:r>
            <a:endParaRPr lang="en-US" sz="2000" dirty="0"/>
          </a:p>
        </p:txBody>
      </p:sp>
      <p:sp>
        <p:nvSpPr>
          <p:cNvPr id="12" name="Text 9"/>
          <p:cNvSpPr/>
          <p:nvPr/>
        </p:nvSpPr>
        <p:spPr>
          <a:xfrm>
            <a:off x="8221107" y="2814321"/>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F1B2D"/>
                </a:solidFill>
                <a:latin typeface="Times New Roman" pitchFamily="18" charset="0"/>
                <a:ea typeface="Times New Roman" pitchFamily="18" charset="-122"/>
                <a:cs typeface="Times New Roman" pitchFamily="18" charset="-120"/>
              </a:rPr>
              <a:t>Incident plans, backups, forensics, recovery drills.</a:t>
            </a:r>
            <a:endParaRPr lang="en-US" sz="1400" dirty="0"/>
          </a:p>
        </p:txBody>
      </p:sp>
      <p:sp>
        <p:nvSpPr>
          <p:cNvPr id="13" name="Text 10"/>
          <p:cNvSpPr/>
          <p:nvPr/>
        </p:nvSpPr>
        <p:spPr>
          <a:xfrm>
            <a:off x="812800" y="3794764"/>
            <a:ext cx="10883392"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1B2D"/>
                </a:solidFill>
                <a:latin typeface="Times New Roman" pitchFamily="18" charset="0"/>
                <a:ea typeface="Times New Roman" pitchFamily="18" charset="-122"/>
                <a:cs typeface="Times New Roman" pitchFamily="18" charset="-120"/>
              </a:rPr>
              <a:t>Know the threat, fix the weakness, measure the risk, protect C-I-A.</a:t>
            </a:r>
            <a:endParaRPr lang="en-US" sz="1700" dirty="0"/>
          </a:p>
        </p:txBody>
      </p:sp>
      <p:sp>
        <p:nvSpPr>
          <p:cNvPr id="14" name="Text 11"/>
          <p:cNvSpPr/>
          <p:nvPr/>
        </p:nvSpPr>
        <p:spPr>
          <a:xfrm>
            <a:off x="812800" y="6238242"/>
            <a:ext cx="5080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4"/>
                </a:solidFill>
                <a:latin typeface="Times New Roman" pitchFamily="18" charset="0"/>
                <a:ea typeface="Times New Roman" pitchFamily="18" charset="-122"/>
                <a:cs typeface="Times New Roman" pitchFamily="18" charset="-120"/>
              </a:rPr>
              <a:t>10 / 10</a:t>
            </a:r>
            <a:endParaRPr lang="en-US" sz="1200" dirty="0"/>
          </a:p>
        </p:txBody>
      </p:sp>
    </p:spTree>
  </p:cSld>
  <p:clrMapOvr>
    <a:masterClrMapping/>
  </p:clrMapOvr>
</p:sld>
</file>

<file path=ppt/theme/theme1.xml><?xml version="1.0" encoding="utf-8"?>
<a:theme xmlns:a="http://schemas.openxmlformats.org/drawingml/2006/main" name="Security Attacks, Threats, Risks and Their Impact on Security Goals">
  <a:themeElements>
    <a:clrScheme name="Security Attacks, Threats, Risks and Their Impact on Security Goals">
      <a:dk1>
        <a:srgbClr val="0F1B2D"/>
      </a:dk1>
      <a:lt1>
        <a:srgbClr val="FFFFFF"/>
      </a:lt1>
      <a:dk2>
        <a:srgbClr val="4B5462"/>
      </a:dk2>
      <a:lt2>
        <a:srgbClr val="E7E8EA"/>
      </a:lt2>
      <a:accent1>
        <a:srgbClr val="E8743B"/>
      </a:accent1>
      <a:accent2>
        <a:srgbClr val="0F7A70"/>
      </a:accent2>
      <a:accent3>
        <a:srgbClr val="5B6574"/>
      </a:accent3>
      <a:accent4>
        <a:srgbClr val="9AA0A6"/>
      </a:accent4>
      <a:accent5>
        <a:srgbClr val="6F7681"/>
      </a:accent5>
      <a:accent6>
        <a:srgbClr val="9398A1"/>
      </a:accent6>
      <a:hlink>
        <a:srgbClr val="0563C1"/>
      </a:hlink>
      <a:folHlink>
        <a:srgbClr val="954F72"/>
      </a:folHlink>
    </a:clrScheme>
    <a:fontScheme name="Security Attacks, Threats, Risks and Their Impact on Security Goals">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Attacks, Threats, Risks and Their Impact on Security Goals</dc:title>
  <dc:subject/>
  <dc:creator/>
  <cp:lastModifiedBy/>
  <cp:revision>1</cp:revision>
  <dcterms:created xsi:type="dcterms:W3CDTF">2026-10-07T17:37:00Z</dcterms:created>
  <dcterms:modified xsi:type="dcterms:W3CDTF">2026-10-07T17:37:00Z</dcterms:modified>
</cp:coreProperties>
</file>